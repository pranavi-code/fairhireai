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Opening: FairHireAI is a student-facing placement-readiness platform, not a hiring-decision system.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FairHireAI repository and data-pipeline snapshot reviewed on 23 July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FairHireAI repository and data-pipeline snapshot reviewed on 23 July 2026.</a:t>
            </a:r>
          </a:p>
          <a:p>
            <a:r>
              <a:t>The displayed model output is called Base Multimodal Interview Signal, not hiring probability.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Putra et al., “MAG-BERT-ARL for Fair Automated Video Interview Assessment,” IEEE Access 12 (2024), DOI 10.1109/ACCESS.2024.3473314.</a:t>
            </a:r>
          </a:p>
          <a:p>
            <a:r>
              <a:t>Key evidence: paper pp. 145191-145203.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Putra et al., “MAG-BERT-ARL for Fair Automated Video Interview Assessment,” IEEE Access 12 (2024), DOI 10.1109/ACCESS.2024.3473314.</a:t>
            </a:r>
          </a:p>
          <a:p>
            <a:r>
              <a:t>Related foundations cited in the paper include MAG (Rahman et al., 2020) and ARL (Lahoti et al., 2020).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Putra et al., “MAG-BERT-ARL for Fair Automated Video Interview Assessment,” IEEE Access 12 (2024), DOI 10.1109/ACCESS.2024.3473314.</a:t>
            </a:r>
          </a:p>
          <a:p>
            <a:r>
              <a:t>FairHireAI repository and data-pipeline snapshot reviewed on 23 July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Putra et al., “MAG-BERT-ARL for Fair Automated Video Interview Assessment,” IEEE Access 12 (2024), DOI 10.1109/ACCESS.2024.3473314.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Putra et al., “MAG-BERT-ARL for Fair Automated Video Interview Assessment,” IEEE Access 12 (2024), DOI 10.1109/ACCESS.2024.3473314.</a:t>
            </a:r>
          </a:p>
          <a:p>
            <a:r>
              <a:t>Paper limitations: gender-only fairness analysis and no formal regulatory-compliance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FairHireAI repository and data-pipeline snapshot reviewed on 23 July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FairHireAI repository and data-pipeline snapshot reviewed on 23 July 2026.</a:t>
            </a:r>
          </a:p>
          <a:p>
            <a:r>
              <a:t>Test command: .venv\Scripts\python.exe -m pytest -q; result: 52 passed, 1 dependency deprecation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FairHireAI repository and data-pipeline snapshot reviewed on 23 July 2026.</a:t>
            </a:r>
          </a:p>
          <a:p>
            <a:r>
              <a:t>Review snapshot: FI preflight ready; 3,345 aligned training NPZ samples cached when this deck was prepared.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FairHireAI repository and data-pipeline snapshot reviewed on 23 July 2026.</a:t>
            </a:r>
          </a:p>
          <a:p>
            <a:r>
              <a:t>The architecture is deliberately student-facing. Delivery Signal remains separate and never reduces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FairHireAI repository and data-pipeline snapshot reviewed on 23 July 2026.</a:t>
            </a:r>
          </a:p>
          <a:p>
            <a:r>
              <a:t>Close by asking reviewers to approve the first-release competency rubric and evaluation plan, not a hiring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D315-1030-2B80-D0DB-7DEEC51AF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7340B-0DDE-10DC-409E-BA063EBE4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7A8D4-3527-9309-0A5E-0475A3853D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46DAB4-64D8-47E1-86DF-DDDBF407C837}" type="datetimeFigureOut">
              <a:t>7/23/2026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D2761-D1A7-DE4C-7344-6C081C8ED7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8F2B-4F0D-DBBF-0776-26DB502020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8B65B4-F627-48A4-BDD7-73C74112FD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A110-943C-23F5-1EB3-12DABC3B0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FC8E-FF6E-CAA4-BF99-DDC6A7CE3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43755-E77B-2AD8-9864-3CCCD43DB9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46DAB4-64D8-47E1-86DF-DDDBF407C837}" type="datetimeFigureOut">
              <a:t>7/23/2026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A0D81-0C2A-C1D4-89B6-8AE90F9526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9370B-01DE-CE63-36D5-96A9D825C7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8B65B4-F627-48A4-BDD7-73C74112FD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90AC2-F784-0AF0-F3ED-DBCD17B7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271C8-4BB8-81BF-3E48-A331E363C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B16BC-0E70-2E48-7097-0DFE7C08F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46DAB4-64D8-47E1-86DF-DDDBF407C837}" type="datetimeFigureOut">
              <a:t>7/23/2026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047D9-7A7D-1CD5-72A5-F76FBD2C53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091CC-B299-657A-2C84-A5F2F88882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8B65B4-F627-48A4-BDD7-73C74112FD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F06C-0D22-B95A-3B46-31C419CCD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3E89-D75F-3A4E-A217-F46B0DA8C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10F7D-6F60-6DB0-0E74-8FEE6CE09FB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72328-69C6-F435-4813-270551D6E5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46DAB4-64D8-47E1-86DF-DDDBF407C837}" type="datetimeFigureOut">
              <a:t>7/23/2026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3F8F5-C5C9-48DC-1308-5E0A2373638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24BD1-9CE1-C3C2-B124-AE13415928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8B65B4-F627-48A4-BDD7-73C74112FD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B79-7BBE-B26E-CD11-6E073F01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82D61-2728-EA99-834D-7D09F97DF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5F1A8-9E4B-1F46-6A76-FE7DBEDDB9B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5FC5FE-7EE0-3067-D9E3-E1B7ACBE5CA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1A719-3264-25D2-762F-27B02CA5EB3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678265-E976-C256-95D8-A8912C72D17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46DAB4-64D8-47E1-86DF-DDDBF407C837}" type="datetimeFigureOut">
              <a:t>7/23/2026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36777-CC57-C820-BF8C-8D0CF23D1D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A80B76-8FA3-06A7-902F-E352C63C2A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8B65B4-F627-48A4-BDD7-73C74112FD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8CDFE-68BE-C53D-F11D-3E85BE70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0FBA4-BC6C-DAE9-B28F-131F14F4EB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46DAB4-64D8-47E1-86DF-DDDBF407C837}" type="datetimeFigureOut">
              <a:t>7/23/2026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C68B9-31A8-4792-F49D-2952126BFC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6716E-C2BA-F748-85E9-7F03119573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8B65B4-F627-48A4-BDD7-73C74112FD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5A6AF-4CC8-54AC-FA16-AEBA470BBF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46DAB4-64D8-47E1-86DF-DDDBF407C837}" type="datetimeFigureOut">
              <a:t>7/23/2026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E6884A-7660-6A22-843A-FB82205238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05E15-4ACF-A3B3-FBFE-4D73E8C1A4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8B65B4-F627-48A4-BDD7-73C74112FD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DFCA-286F-443B-15DC-CADE0C67A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8B1CB-9637-A0B8-1EFC-6E5BAA21A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B3AB0-8AC3-63AC-1867-1D3D46D4CD2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CEAB7-F5DA-BFC5-0365-4BAA0BDA35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46DAB4-64D8-47E1-86DF-DDDBF407C837}" type="datetimeFigureOut">
              <a:t>7/23/2026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23004-B909-75B9-5143-716F19EBE0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6B2E9-27EC-85B8-C336-7F459E3F76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8B65B4-F627-48A4-BDD7-73C74112FD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E309-44E4-B050-60D6-980FBE7A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F88B82-D5EF-6449-0E46-6018B42DF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D7B3C-D6F6-9D71-843F-F55A49107D1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F7285-2883-A37B-1978-0DD70F5355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46DAB4-64D8-47E1-86DF-DDDBF407C837}" type="datetimeFigureOut">
              <a:t>7/23/2026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ABE42-D47A-22EE-D00F-DD65496D46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BA2B4-747B-B0E4-0325-9ECD9E4195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8B65B4-F627-48A4-BDD7-73C74112FD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300C-8D5E-D5B2-0D9C-8B274A85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BF644-E307-4898-579B-2F5C0191A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9926B-92DB-5030-6C8D-3414FB88197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46DAB4-64D8-47E1-86DF-DDDBF407C837}" type="datetimeFigureOut">
              <a:t>7/23/2026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860F0-C556-9493-9C42-3D2CFC4C6CB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A6D93-20CC-08BA-CC36-537C3CBBCE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8B65B4-F627-48A4-BDD7-73C74112FD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9B8D19-A675-BB65-B565-649B72C34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27A4D-9F97-4C16-820B-FB05610C8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C3344-B033-4A65-2E60-A222E42C02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46DAB4-64D8-47E1-86DF-DDDBF407C837}" type="datetimeFigureOut">
              <a:t>7/23/2026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87110-36C5-4A97-F84F-1B07FCA20A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25307-4E04-5972-AF84-0BCBF9A020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A8B65B4-F627-48A4-BDD7-73C74112FD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>
            <a:extLst>
              <a:ext uri="{FF2B5EF4-FFF2-40B4-BE49-F238E27FC236}">
                <a16:creationId xmlns:a16="http://schemas.microsoft.com/office/drawing/2014/main" id="{A00BDC5E-E010-4EEF-BEC0-1ECB98752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>
            <a:extLst>
              <a:ext uri="{FF2B5EF4-FFF2-40B4-BE49-F238E27FC236}">
                <a16:creationId xmlns:a16="http://schemas.microsoft.com/office/drawing/2014/main" id="{275B1F30-584B-4885-91A1-338239CA6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>
            <a:normAutofit/>
          </a:bodyPr>
          <a:lstStyle>
            <a:lvl1pPr algn="ctr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>
            <a:extLst>
              <a:ext uri="{FF2B5EF4-FFF2-40B4-BE49-F238E27FC236}">
                <a16:creationId xmlns:a16="http://schemas.microsoft.com/office/drawing/2014/main" id="{998AD4E8-1556-4679-9ADB-689B28F585D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>
            <a:extLst>
              <a:ext uri="{FF2B5EF4-FFF2-40B4-BE49-F238E27FC236}">
                <a16:creationId xmlns:a16="http://schemas.microsoft.com/office/drawing/2014/main" id="{1EF2254D-CB49-40CF-BA59-30085B8E13B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>
            <a:extLst>
              <a:ext uri="{FF2B5EF4-FFF2-40B4-BE49-F238E27FC236}">
                <a16:creationId xmlns:a16="http://schemas.microsoft.com/office/drawing/2014/main" id="{267857B9-288A-4E7A-A18C-88F65D09E9D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3">
            <a:extLst>
              <a:ext uri="{FF2B5EF4-FFF2-40B4-BE49-F238E27FC236}">
                <a16:creationId xmlns:a16="http://schemas.microsoft.com/office/drawing/2014/main" id="{3B225FFD-01F0-4E6F-926D-2BAD20EA3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8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3">
            <a:extLst>
              <a:ext uri="{FF2B5EF4-FFF2-40B4-BE49-F238E27FC236}">
                <a16:creationId xmlns:a16="http://schemas.microsoft.com/office/drawing/2014/main" id="{473FD08E-64B7-4693-B308-15EB01B0F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43">
            <a:extLst>
              <a:ext uri="{FF2B5EF4-FFF2-40B4-BE49-F238E27FC236}">
                <a16:creationId xmlns:a16="http://schemas.microsoft.com/office/drawing/2014/main" id="{152C977C-91F8-46FC-9A21-70AA13F3FE8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>
            <a:normAutofit/>
          </a:bodyPr>
          <a:lstStyle>
            <a:lvl1pPr marL="45720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Char char="•"/>
              <a:defRPr sz="2400"/>
            </a:lvl1pPr>
            <a:lvl2pPr marL="914400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–"/>
              <a:defRPr sz="2000"/>
            </a:lvl2pPr>
            <a:lvl3pPr marL="1371600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Char char="•"/>
              <a:defRPr sz="1800"/>
            </a:lvl3pPr>
            <a:lvl4pPr marL="1828800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–"/>
              <a:defRPr sz="1600"/>
            </a:lvl4pPr>
            <a:lvl5pPr marL="2286000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»"/>
              <a:defRPr sz="1600"/>
            </a:lvl5pPr>
            <a:lvl6pPr marL="2743200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6pPr>
            <a:lvl7pPr marL="3200400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7pPr>
            <a:lvl8pPr marL="3657600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8pPr>
            <a:lvl9pPr marL="4114800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9pPr>
          </a:lstStyle>
          <a:p>
            <a:endParaRPr/>
          </a:p>
        </p:txBody>
      </p:sp>
      <p:sp>
        <p:nvSpPr>
          <p:cNvPr id="27" name="Google Shape;27;p43">
            <a:extLst>
              <a:ext uri="{FF2B5EF4-FFF2-40B4-BE49-F238E27FC236}">
                <a16:creationId xmlns:a16="http://schemas.microsoft.com/office/drawing/2014/main" id="{8B78977A-979F-49C7-919A-0B56CD55A67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43">
            <a:extLst>
              <a:ext uri="{FF2B5EF4-FFF2-40B4-BE49-F238E27FC236}">
                <a16:creationId xmlns:a16="http://schemas.microsoft.com/office/drawing/2014/main" id="{FF5C0A96-E00E-4BEA-AB53-0DA6F69AECCF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>
            <a:normAutofit/>
          </a:bodyPr>
          <a:lstStyle>
            <a:lvl1pPr marL="45720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Char char="•"/>
              <a:defRPr sz="2400"/>
            </a:lvl1pPr>
            <a:lvl2pPr marL="914400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–"/>
              <a:defRPr sz="2000"/>
            </a:lvl2pPr>
            <a:lvl3pPr marL="1371600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Char char="•"/>
              <a:defRPr sz="1800"/>
            </a:lvl3pPr>
            <a:lvl4pPr marL="1828800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–"/>
              <a:defRPr sz="1600"/>
            </a:lvl4pPr>
            <a:lvl5pPr marL="2286000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»"/>
              <a:defRPr sz="1600"/>
            </a:lvl5pPr>
            <a:lvl6pPr marL="2743200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6pPr>
            <a:lvl7pPr marL="3200400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7pPr>
            <a:lvl8pPr marL="3657600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8pPr>
            <a:lvl9pPr marL="4114800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9pPr>
          </a:lstStyle>
          <a:p>
            <a:endParaRPr/>
          </a:p>
        </p:txBody>
      </p:sp>
      <p:sp>
        <p:nvSpPr>
          <p:cNvPr id="29" name="Google Shape;29;p43">
            <a:extLst>
              <a:ext uri="{FF2B5EF4-FFF2-40B4-BE49-F238E27FC236}">
                <a16:creationId xmlns:a16="http://schemas.microsoft.com/office/drawing/2014/main" id="{7DA9D938-A039-4361-8D84-371D17604B3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3">
            <a:extLst>
              <a:ext uri="{FF2B5EF4-FFF2-40B4-BE49-F238E27FC236}">
                <a16:creationId xmlns:a16="http://schemas.microsoft.com/office/drawing/2014/main" id="{F301FF5D-E2C8-44D0-B651-9C0219722B2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3">
            <a:extLst>
              <a:ext uri="{FF2B5EF4-FFF2-40B4-BE49-F238E27FC236}">
                <a16:creationId xmlns:a16="http://schemas.microsoft.com/office/drawing/2014/main" id="{E4DC547E-F0B1-4568-8AA2-40C57B820C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>
            <a:extLst>
              <a:ext uri="{FF2B5EF4-FFF2-40B4-BE49-F238E27FC236}">
                <a16:creationId xmlns:a16="http://schemas.microsoft.com/office/drawing/2014/main" id="{B937BD6D-49F4-4EFD-9BB0-4BB781A9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>
            <a:extLst>
              <a:ext uri="{FF2B5EF4-FFF2-40B4-BE49-F238E27FC236}">
                <a16:creationId xmlns:a16="http://schemas.microsoft.com/office/drawing/2014/main" id="{7179C103-3B33-4B31-BB8A-981B04948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7">
            <a:extLst>
              <a:ext uri="{FF2B5EF4-FFF2-40B4-BE49-F238E27FC236}">
                <a16:creationId xmlns:a16="http://schemas.microsoft.com/office/drawing/2014/main" id="{9B4B292D-AED6-480B-9D8B-7CB2C9C1830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>
            <a:extLst>
              <a:ext uri="{FF2B5EF4-FFF2-40B4-BE49-F238E27FC236}">
                <a16:creationId xmlns:a16="http://schemas.microsoft.com/office/drawing/2014/main" id="{9D8FA9D3-315F-4E1C-8236-21BE1E4F091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>
            <a:extLst>
              <a:ext uri="{FF2B5EF4-FFF2-40B4-BE49-F238E27FC236}">
                <a16:creationId xmlns:a16="http://schemas.microsoft.com/office/drawing/2014/main" id="{0F75718E-D95B-464A-80AB-8EDA3BAF24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>
            <a:extLst>
              <a:ext uri="{FF2B5EF4-FFF2-40B4-BE49-F238E27FC236}">
                <a16:creationId xmlns:a16="http://schemas.microsoft.com/office/drawing/2014/main" id="{27E75C3B-5752-4571-A10D-5F835647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>
            <a:extLst>
              <a:ext uri="{FF2B5EF4-FFF2-40B4-BE49-F238E27FC236}">
                <a16:creationId xmlns:a16="http://schemas.microsoft.com/office/drawing/2014/main" id="{1A3DE3F9-BDEE-4C5A-8B6C-13C91BC7742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>
            <a:extLst>
              <a:ext uri="{FF2B5EF4-FFF2-40B4-BE49-F238E27FC236}">
                <a16:creationId xmlns:a16="http://schemas.microsoft.com/office/drawing/2014/main" id="{AFF7842C-4FD7-482C-8E7A-28AF5632345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>
            <a:extLst>
              <a:ext uri="{FF2B5EF4-FFF2-40B4-BE49-F238E27FC236}">
                <a16:creationId xmlns:a16="http://schemas.microsoft.com/office/drawing/2014/main" id="{2012DE33-2F6E-4635-B49B-9B425E6FBB5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>
            <a:extLst>
              <a:ext uri="{FF2B5EF4-FFF2-40B4-BE49-F238E27FC236}">
                <a16:creationId xmlns:a16="http://schemas.microsoft.com/office/drawing/2014/main" id="{F66A8F9A-14C6-49E0-963E-1EBDC5D3FB2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>
            <a:extLst>
              <a:ext uri="{FF2B5EF4-FFF2-40B4-BE49-F238E27FC236}">
                <a16:creationId xmlns:a16="http://schemas.microsoft.com/office/drawing/2014/main" id="{D861BA22-B95B-4DA4-8392-595D8DB97D3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>
            <a:extLst>
              <a:ext uri="{FF2B5EF4-FFF2-40B4-BE49-F238E27FC236}">
                <a16:creationId xmlns:a16="http://schemas.microsoft.com/office/drawing/2014/main" id="{DDE94597-3159-49C2-86A2-6E306AF48C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>
            <a:extLst>
              <a:ext uri="{FF2B5EF4-FFF2-40B4-BE49-F238E27FC236}">
                <a16:creationId xmlns:a16="http://schemas.microsoft.com/office/drawing/2014/main" id="{13590205-063B-4B78-ADE3-C76953B83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>
            <a:extLst>
              <a:ext uri="{FF2B5EF4-FFF2-40B4-BE49-F238E27FC236}">
                <a16:creationId xmlns:a16="http://schemas.microsoft.com/office/drawing/2014/main" id="{AF26C080-CB6C-49A3-BE97-AA400169C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6735" y="273052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>
            <a:normAutofit/>
          </a:bodyPr>
          <a:lstStyle>
            <a:lvl1pPr marL="45720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>
            <a:extLst>
              <a:ext uri="{FF2B5EF4-FFF2-40B4-BE49-F238E27FC236}">
                <a16:creationId xmlns:a16="http://schemas.microsoft.com/office/drawing/2014/main" id="{3A5263E4-8A15-415D-96CC-180FED0B7B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1" y="1435102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indent="-228600" algn="l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>
            <a:extLst>
              <a:ext uri="{FF2B5EF4-FFF2-40B4-BE49-F238E27FC236}">
                <a16:creationId xmlns:a16="http://schemas.microsoft.com/office/drawing/2014/main" id="{1DCE2A3C-5ABD-4C4E-B4A7-F2170A323F6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>
            <a:extLst>
              <a:ext uri="{FF2B5EF4-FFF2-40B4-BE49-F238E27FC236}">
                <a16:creationId xmlns:a16="http://schemas.microsoft.com/office/drawing/2014/main" id="{B1C943F9-D68A-4939-A360-C1FD1BEBCA8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>
            <a:extLst>
              <a:ext uri="{FF2B5EF4-FFF2-40B4-BE49-F238E27FC236}">
                <a16:creationId xmlns:a16="http://schemas.microsoft.com/office/drawing/2014/main" id="{FE3B91A4-C205-4A6A-985E-BCC41296827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>
            <a:extLst>
              <a:ext uri="{FF2B5EF4-FFF2-40B4-BE49-F238E27FC236}">
                <a16:creationId xmlns:a16="http://schemas.microsoft.com/office/drawing/2014/main" id="{868D6FA1-FB9C-4272-9A8D-04A9BD6C3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>
            <a:extLst>
              <a:ext uri="{FF2B5EF4-FFF2-40B4-BE49-F238E27FC236}">
                <a16:creationId xmlns:a16="http://schemas.microsoft.com/office/drawing/2014/main" id="{93786A33-215D-4C20-8556-76E942A6E74C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>
            <a:extLst>
              <a:ext uri="{FF2B5EF4-FFF2-40B4-BE49-F238E27FC236}">
                <a16:creationId xmlns:a16="http://schemas.microsoft.com/office/drawing/2014/main" id="{24EC65C7-FB69-477D-A51E-B4E337815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indent="-228600" algn="l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>
            <a:extLst>
              <a:ext uri="{FF2B5EF4-FFF2-40B4-BE49-F238E27FC236}">
                <a16:creationId xmlns:a16="http://schemas.microsoft.com/office/drawing/2014/main" id="{D0E2F09D-3A97-4BDD-B317-BE55163B9C6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>
            <a:extLst>
              <a:ext uri="{FF2B5EF4-FFF2-40B4-BE49-F238E27FC236}">
                <a16:creationId xmlns:a16="http://schemas.microsoft.com/office/drawing/2014/main" id="{D5187B28-97E7-4958-AB46-A2C67BD7734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>
            <a:extLst>
              <a:ext uri="{FF2B5EF4-FFF2-40B4-BE49-F238E27FC236}">
                <a16:creationId xmlns:a16="http://schemas.microsoft.com/office/drawing/2014/main" id="{B6149981-237E-4981-9385-B5A6682E8DB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5772917D-603D-48DD-96D6-74138BBA2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605EC23D-DE09-4C43-BF83-7B07B6601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>
            <a:normAutofit/>
          </a:bodyPr>
          <a:lstStyle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BE13FEF8-CAB6-47D0-80AB-0D7CCDCDA51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BADA8178-4371-46D2-BD72-05CF3A72AFA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>
            <a:extLst>
              <a:ext uri="{FF2B5EF4-FFF2-40B4-BE49-F238E27FC236}">
                <a16:creationId xmlns:a16="http://schemas.microsoft.com/office/drawing/2014/main" id="{81BACC0B-898F-4547-B77E-46F2CEAE7C4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F7354DA-96CC-4D02-9FCB-60BC77A41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2F3065CF-58CF-4E34-9F04-C630E7064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>
            <a:normAutofit/>
          </a:bodyPr>
          <a:lstStyle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4A9BC45D-51D6-478F-9C3B-AFD4C65BC8C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812575C-1C34-4BD3-97CF-A366F22DAF5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6D1DC15D-EC3A-49FB-9556-914C5C22716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62A23B-DBCE-C62C-1265-F31E2A5A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9A17-E8A7-6E20-0EA8-D838BF9B6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0BCC5-47DA-7507-8175-520644C0A6D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6DAB4-64D8-47E1-86DF-DDDBF407C837}" type="datetimeFigureOut">
              <a:t>7/23/2026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7B08C-E7C0-E7FA-87A6-2B08C5BC05E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213AB-30A1-72C4-9F44-AB53ADE8590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B65B4-F627-48A4-BDD7-73C74112FD6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>
            <a:extLst>
              <a:ext uri="{FF2B5EF4-FFF2-40B4-BE49-F238E27FC236}">
                <a16:creationId xmlns:a16="http://schemas.microsoft.com/office/drawing/2014/main" id="{62809D78-B9AE-42B6-BF8B-294A9218D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rm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4">
            <a:extLst>
              <a:ext uri="{FF2B5EF4-FFF2-40B4-BE49-F238E27FC236}">
                <a16:creationId xmlns:a16="http://schemas.microsoft.com/office/drawing/2014/main" id="{6F3BFF39-61CA-4062-B85B-6124A1C23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>
            <a:normAutofit/>
          </a:bodyPr>
          <a:lstStyle>
            <a:lvl1pPr marL="457200" marR="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8" name="Google Shape;8;p4">
            <a:extLst>
              <a:ext uri="{FF2B5EF4-FFF2-40B4-BE49-F238E27FC236}">
                <a16:creationId xmlns:a16="http://schemas.microsoft.com/office/drawing/2014/main" id="{DE38B0AF-65BD-40D9-9B06-3F2BEDA2623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9" name="Google Shape;9;p4">
            <a:extLst>
              <a:ext uri="{FF2B5EF4-FFF2-40B4-BE49-F238E27FC236}">
                <a16:creationId xmlns:a16="http://schemas.microsoft.com/office/drawing/2014/main" id="{E55CA738-9754-4E1F-9DB9-457B36DC1CE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0" name="Google Shape;10;p4">
            <a:extLst>
              <a:ext uri="{FF2B5EF4-FFF2-40B4-BE49-F238E27FC236}">
                <a16:creationId xmlns:a16="http://schemas.microsoft.com/office/drawing/2014/main" id="{CBDE9A28-76E1-4B68-8583-09867C92E3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7EE5F61E-60C2-4F8E-90F3-4D22E860B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421" y="3165988"/>
            <a:ext cx="10370574" cy="14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rmAutofit fontScale="79534"/>
          </a:bodyPr>
          <a:lstStyle/>
          <a:p>
            <a:pPr>
              <a:buSzPct val="96609"/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FairHireAI: Evidence-Backed Placement Readiness</a:t>
            </a:r>
            <a:br/>
            <a:r>
              <a:rPr sz="2800">
                <a:latin typeface="Times New Roman"/>
                <a:ea typeface="Times New Roman"/>
                <a:cs typeface="Times New Roman"/>
              </a:rPr>
              <a:t>Project Review | Student Self-Improvement System</a:t>
            </a:r>
            <a:br/>
            <a:r>
              <a:rPr sz="4000">
                <a:latin typeface="Times New Roman"/>
                <a:ea typeface="Times New Roman"/>
                <a:cs typeface="Times New Roman"/>
              </a:rPr>
              <a:t>MAG-BERT-ARL + Competency Evidence Graph</a:t>
            </a:r>
          </a:p>
        </p:txBody>
      </p:sp>
      <p:sp>
        <p:nvSpPr>
          <p:cNvPr id="3" name="Google Shape;84;p1">
            <a:extLst>
              <a:ext uri="{FF2B5EF4-FFF2-40B4-BE49-F238E27FC236}">
                <a16:creationId xmlns:a16="http://schemas.microsoft.com/office/drawing/2014/main" id="{A4EEA724-C2DB-42B6-B20A-3665776612B2}"/>
              </a:ext>
            </a:extLst>
          </p:cNvPr>
          <p:cNvSpPr>
            <a:spLocks noGrp="1"/>
          </p:cNvSpPr>
          <p:nvPr/>
        </p:nvSpPr>
        <p:spPr>
          <a:xfrm>
            <a:off x="7973960" y="5107858"/>
            <a:ext cx="4308987" cy="14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>
            <a:normAutofit fontScale="76856" lnSpcReduction="20000"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68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</a:pPr>
            <a:r>
              <a:rPr sz="2400" b="0" i="0" u="none" cap="none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team:</a:t>
            </a:r>
          </a:p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</a:pPr>
            <a:r>
              <a:rPr sz="2400" b="0" i="0" u="none" cap="none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FairHireAI Team</a:t>
            </a:r>
          </a:p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</a:pPr>
            <a:r>
              <a:rPr sz="2400" b="0" i="0" u="none" cap="none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Department of CSE</a:t>
            </a:r>
          </a:p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</a:pPr>
            <a:r>
              <a:rPr sz="4680" b="0" i="0" u="none" cap="none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2026 Review</a:t>
            </a:r>
          </a:p>
        </p:txBody>
      </p:sp>
    </p:spTree>
    <p:extLst>
      <p:ext uri="{BB962C8B-B14F-4D97-AF65-F5344CB8AC3E}">
        <p14:creationId xmlns:p14="http://schemas.microsoft.com/office/powerpoint/2010/main" val="216701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95AD2F6-9C5C-4570-80C8-6E471A55D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t>Abstract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212E6A-53D3-4EAC-BAE8-2914F404F4C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pPr marL="28" indent="-14">
              <a:spcAft>
                <a:spcPts val="8"/>
              </a:spcAft>
              <a:buChar char="•"/>
            </a:pPr>
            <a:r>
              <a:rPr b="1"/>
              <a:t>Problem: </a:t>
            </a:r>
            <a:r>
              <a:t>students need role-specific feedback that shows why a competency is strong or weak.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Scope: </a:t>
            </a:r>
            <a:r>
              <a:t>the first release targets Junior Backend Developer through an optional approved JD mapping, resume evidence, and six bounded competencies.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Research foundation: </a:t>
            </a:r>
            <a:r>
              <a:t>MAG-BERT-ARL combines text, acoustic, and visual evidence without sensitive attributes as normal training inputs.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Project extension: </a:t>
            </a:r>
            <a:r>
              <a:t>a Competency Evidence Graph converts model and rubric evidence into auditable scorecards, skill gaps, and a curated learning roadmap.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Safety boundary: </a:t>
            </a:r>
            <a:r>
              <a:t>the system supports student self-improvement; it does not rank students or make hire/reject decisions.</a:t>
            </a:r>
          </a:p>
        </p:txBody>
      </p:sp>
    </p:spTree>
    <p:extLst>
      <p:ext uri="{BB962C8B-B14F-4D97-AF65-F5344CB8AC3E}">
        <p14:creationId xmlns:p14="http://schemas.microsoft.com/office/powerpoint/2010/main" val="160719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17A6AF5-0F7B-2072-C4EB-1E602FEB4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t>Base Paper: MAG-BERT-ARL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067E6C4-0222-E14E-9E2D-9D1D2A9F144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pPr marL="28" indent="-14">
              <a:spcAft>
                <a:spcPts val="8"/>
              </a:spcAft>
              <a:buChar char="•"/>
            </a:pPr>
            <a:r>
              <a:rPr b="1"/>
              <a:t>Multimodal inputs: </a:t>
            </a:r>
            <a:r>
              <a:t>Whisper-timestamped text, 88-dimensional eGeMAPS audio, and 709-dimensional OpenFace visual features are aligned at word level.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MAG-BERT: </a:t>
            </a:r>
            <a:r>
              <a:t>the Multimodal Adaptation Gate shifts BERT word embeddings using aligned acoustic and visual evidence before the encoder.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ARL: </a:t>
            </a:r>
            <a:r>
              <a:t>a learner predicts from the CLS representation while an adversary upweights high-loss regions to support fairness without demographics.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Experiments: </a:t>
            </a:r>
            <a:r>
              <a:t>the paper evaluates MSE, BCE, and MSE+BCE variants on ETS and First Impressions, with Gradient SHAP explanations.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Reported result: </a:t>
            </a:r>
            <a:r>
              <a:t>Pearson correlation improves by up to 0.17 on First Impressions and equal-accuracy difference improves by up to 0.112, with a modality fairness-performance trade-off.</a:t>
            </a:r>
          </a:p>
        </p:txBody>
      </p:sp>
    </p:spTree>
    <p:extLst>
      <p:ext uri="{BB962C8B-B14F-4D97-AF65-F5344CB8AC3E}">
        <p14:creationId xmlns:p14="http://schemas.microsoft.com/office/powerpoint/2010/main" val="63177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A9D7D7E-1900-4A34-B89D-B0CA35A68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t>Literature Survey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B7CD01A-75F2-48A6-A3F5-010F95A79D6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pPr marL="28" indent="-14">
              <a:spcAft>
                <a:spcPts val="8"/>
              </a:spcAft>
              <a:buChar char="•"/>
            </a:pPr>
            <a:r>
              <a:rPr b="1"/>
              <a:t>Early automated interviews: </a:t>
            </a:r>
            <a:r>
              <a:t>lexical models and hand-crafted non-verbal features enabled scalable asynchronous scoring.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Multimodal fusion: </a:t>
            </a:r>
            <a:r>
              <a:t>MAG-BERT integrated acoustic and visual cues directly into a pretrained language model.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Fairness-aware assessment: </a:t>
            </a:r>
            <a:r>
              <a:t>prior interview work often used protected attributes for balancing or adversarial debiasing.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Fairness without demographics: </a:t>
            </a:r>
            <a:r>
              <a:t>ARL and related robust methods seek worst-performing, computationally identifiable regions without demographic labels.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Open gap: </a:t>
            </a:r>
            <a:r>
              <a:t>model scores and attributions still do not provide role-specific, source-linked feedback or a grounded improvement path for students.</a:t>
            </a:r>
          </a:p>
        </p:txBody>
      </p:sp>
    </p:spTree>
    <p:extLst>
      <p:ext uri="{BB962C8B-B14F-4D97-AF65-F5344CB8AC3E}">
        <p14:creationId xmlns:p14="http://schemas.microsoft.com/office/powerpoint/2010/main" val="314350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50BB16E-A855-42D1-AFE5-402925889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t>Existing System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D9325C0-19C8-49FE-A554-77DA1C5FDE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pPr marL="28" indent="-14">
              <a:spcAft>
                <a:spcPts val="8"/>
              </a:spcAft>
              <a:buChar char="•"/>
            </a:pPr>
            <a:r>
              <a:rPr b="1"/>
              <a:t>Model-centric output: </a:t>
            </a:r>
            <a:r>
              <a:t>many systems produce one overall interview or hirability score.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Generic preparation: </a:t>
            </a:r>
            <a:r>
              <a:t>mock-interview tools often use fixed questions and broad, weakly evidenced advice.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Limited traceability: </a:t>
            </a:r>
            <a:r>
              <a:t>a score may not link back to the role rubric, resume claim, question, transcript span, or timestamp.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Fairness dependence: </a:t>
            </a:r>
            <a:r>
              <a:t>several mitigation approaches require protected attributes during model development.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Action gap: </a:t>
            </a:r>
            <a:r>
              <a:t>feedback is rarely connected to a verified competency gap and reviewer-approved learning material.</a:t>
            </a:r>
          </a:p>
        </p:txBody>
      </p:sp>
    </p:spTree>
    <p:extLst>
      <p:ext uri="{BB962C8B-B14F-4D97-AF65-F5344CB8AC3E}">
        <p14:creationId xmlns:p14="http://schemas.microsoft.com/office/powerpoint/2010/main" val="2665908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91C3B9E-227D-441B-8BA2-78F6A1C0D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t>Advantages of Existing System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E15741-3E67-4C94-A643-474951649E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pPr marL="28" indent="-14">
              <a:spcAft>
                <a:spcPts val="8"/>
              </a:spcAft>
              <a:buChar char="•"/>
            </a:pPr>
            <a:r>
              <a:rPr b="1"/>
              <a:t>Scalability: </a:t>
            </a:r>
            <a:r>
              <a:t>asynchronous interviews reduce scheduling and reviewer workload.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Flexibility: </a:t>
            </a:r>
            <a:r>
              <a:t>candidates can respond remotely and at a convenient time.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Consistency: </a:t>
            </a:r>
            <a:r>
              <a:t>structured prompts and repeatable pipelines support comparable assessments.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Rich evidence: </a:t>
            </a:r>
            <a:r>
              <a:t>text, voice, and visual streams can reveal complementary response patterns.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Research benchmarks: </a:t>
            </a:r>
            <a:r>
              <a:t>ETS and First Impressions enable reproducible performance and fairness comparisons.</a:t>
            </a:r>
          </a:p>
        </p:txBody>
      </p:sp>
    </p:spTree>
    <p:extLst>
      <p:ext uri="{BB962C8B-B14F-4D97-AF65-F5344CB8AC3E}">
        <p14:creationId xmlns:p14="http://schemas.microsoft.com/office/powerpoint/2010/main" val="1428212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206DA9E-B692-8CD4-0C09-22C98078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t>Limitations of Existing System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8270C82-2A94-7856-D368-E4C04ADD8BB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pPr marL="28" indent="-14">
              <a:spcAft>
                <a:spcPts val="8"/>
              </a:spcAft>
              <a:buChar char="•"/>
            </a:pPr>
            <a:r>
              <a:rPr b="1"/>
              <a:t>High-stakes risk: </a:t>
            </a:r>
            <a:r>
              <a:t>an opaque automated score can influence opportunity without adequate human oversight.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Privacy burden: </a:t>
            </a:r>
            <a:r>
              <a:t>video, audio, resumes, and sensitive demographic data require strict purpose and access controls.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Proxy bias: </a:t>
            </a:r>
            <a:r>
              <a:t>accent, disability, recording quality, culture, and camera conditions can affect non-verbal features.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Label mismatch: </a:t>
            </a:r>
            <a:r>
              <a:t>the First Impressions interview variable is not ground truth for backend technical competence.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Weak explanation: </a:t>
            </a:r>
            <a:r>
              <a:t>feature attribution alone does not prove a competency judgment or tell a student what to practice.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Incomplete fairness: </a:t>
            </a:r>
            <a:r>
              <a:t>the base paper improves equal accuracy, but demographic parity is inconsistent and equalized odds can worsen.</a:t>
            </a:r>
          </a:p>
        </p:txBody>
      </p:sp>
    </p:spTree>
    <p:extLst>
      <p:ext uri="{BB962C8B-B14F-4D97-AF65-F5344CB8AC3E}">
        <p14:creationId xmlns:p14="http://schemas.microsoft.com/office/powerpoint/2010/main" val="461482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745DFAB-8A01-43D1-BA09-E81B3C8E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t>Proposed System: FairHireAI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E805A94-0A90-4EB2-8445-7CED9D777D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pPr marL="28" indent="-14">
              <a:spcAft>
                <a:spcPts val="8"/>
              </a:spcAft>
              <a:buChar char="•"/>
            </a:pPr>
            <a:r>
              <a:rPr b="1"/>
              <a:t>Constrain the role: </a:t>
            </a:r>
            <a:r>
              <a:t>use the approved Junior Backend Developer template; an optional JD may adjust only approved skills and competency weights.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Capture evidence: </a:t>
            </a:r>
            <a:r>
              <a:t>extract source-linked resume claims and conduct six core competency questions with at most one bounded follow-up each.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Process answers: </a:t>
            </a:r>
            <a:r>
              <a:t>run the MAG-BERT-ARL reproduction and Gradient SHAP as a Base Multimodal Interview Signal.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Reason transparently: </a:t>
            </a:r>
            <a:r>
              <a:t>link roles, claims, questions, answer segments, predictions, explanations, and judgments in a Competency Evidence Graph.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Support improvement: </a:t>
            </a:r>
            <a:r>
              <a:t>produce three auditable scorecards, detect evidence-backed gaps, retrieve approved resources, and compare reattempts.</a:t>
            </a:r>
          </a:p>
        </p:txBody>
      </p:sp>
    </p:spTree>
    <p:extLst>
      <p:ext uri="{BB962C8B-B14F-4D97-AF65-F5344CB8AC3E}">
        <p14:creationId xmlns:p14="http://schemas.microsoft.com/office/powerpoint/2010/main" val="423768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1B7F5CA-FA78-47F3-9036-BE7CA9C6E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t>Advantages of Proposed System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3774543-095C-48BC-B48F-CDE06E1EAFF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pPr marL="28" indent="-14">
              <a:spcAft>
                <a:spcPts val="8"/>
              </a:spcAft>
              <a:buChar char="•"/>
            </a:pPr>
            <a:r>
              <a:rPr b="1"/>
              <a:t>Auditable feedback: </a:t>
            </a:r>
            <a:r>
              <a:t>every shown reason can point to a rubric item, resume span, transcript segment, timestamp, prediction, or attribution.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Safe scoring: </a:t>
            </a:r>
            <a:r>
              <a:t>low signal quality reduces evidence confidence rather than student capability; insufficient evidence suppresses readiness.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Bounded adaptation: </a:t>
            </a:r>
            <a:r>
              <a:t>approved question banks and one-follow-up limits prevent unrestricted interview generation.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Grounded roadmap: </a:t>
            </a:r>
            <a:r>
              <a:t>only reviewer-approved resources are eligible; missing coverage is reported instead of invented.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Privacy by design: </a:t>
            </a:r>
            <a:r>
              <a:t>authenticated ownership, private storage references, append-only consent, and deletion contracts are represented.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Verified foundation: </a:t>
            </a:r>
            <a:r>
              <a:t>52 automated tests pass across backend contracts and ML models/metrics in the current review snapshot.</a:t>
            </a:r>
          </a:p>
        </p:txBody>
      </p:sp>
    </p:spTree>
    <p:extLst>
      <p:ext uri="{BB962C8B-B14F-4D97-AF65-F5344CB8AC3E}">
        <p14:creationId xmlns:p14="http://schemas.microsoft.com/office/powerpoint/2010/main" val="4143154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E6E3A44-4995-9E09-121D-09AD8BD12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t>Current Limitations and Next Steps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688078-DCFB-136A-83AD-C368CC7389C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pPr marL="28" indent="-14">
              <a:spcAft>
                <a:spcPts val="8"/>
              </a:spcAft>
              <a:buChar char="•"/>
            </a:pPr>
            <a:r>
              <a:rPr b="1"/>
              <a:t>Model training: </a:t>
            </a:r>
            <a:r>
              <a:t>the 8,000-record FI manifest and 10-sample pilot are validated, but full preprocessing and final baseline/ARL experiments are not complete.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Results: </a:t>
            </a:r>
            <a:r>
              <a:t>no final checkpoint, reproduction metrics, fairness audit, or project ablation results are claimed yet.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Human validation: </a:t>
            </a:r>
            <a:r>
              <a:t>the six-competency rubric is pending faculty review; consented student answers and evaluator labels still need collection.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Product integration: </a:t>
            </a:r>
            <a:r>
              <a:t>the durable inference worker, reviewed Supabase deployment, trusted deletion worker, and authenticated frontend remain to be connected.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Next review milestone: </a:t>
            </a:r>
            <a:r>
              <a:t>finish preprocessing, train MAG-BERT and ARL variants, run ablations and fairness audit, then demonstrate one complete student journey.</a:t>
            </a:r>
          </a:p>
        </p:txBody>
      </p:sp>
    </p:spTree>
    <p:extLst>
      <p:ext uri="{BB962C8B-B14F-4D97-AF65-F5344CB8AC3E}">
        <p14:creationId xmlns:p14="http://schemas.microsoft.com/office/powerpoint/2010/main" val="1060233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A6A5B44-10D1-44CD-8D1C-08B7E948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t>FairHireAI Architecture and Flow</a:t>
            </a:r>
          </a:p>
        </p:txBody>
      </p:sp>
      <p:sp>
        <p:nvSpPr>
          <p:cNvPr id="9" name="flow-rightArrow">
            <a:extLst>
              <a:ext uri="{FF2B5EF4-FFF2-40B4-BE49-F238E27FC236}">
                <a16:creationId xmlns:a16="http://schemas.microsoft.com/office/drawing/2014/main" id="{AF0CD7CF-3D91-47A4-9E79-B83AE9E84A3E}"/>
              </a:ext>
            </a:extLst>
          </p:cNvPr>
          <p:cNvSpPr>
            <a:spLocks noGrp="1"/>
          </p:cNvSpPr>
          <p:nvPr/>
        </p:nvSpPr>
        <p:spPr>
          <a:xfrm>
            <a:off x="2428875" y="2324100"/>
            <a:ext cx="323850" cy="247650"/>
          </a:xfrm>
          <a:prstGeom prst="rightArrow">
            <a:avLst/>
          </a:prstGeom>
          <a:solidFill>
            <a:srgbClr val="E85D04"/>
          </a:solidFill>
          <a:ln w="7620">
            <a:solidFill>
              <a:srgbClr val="E85D04"/>
            </a:solidFill>
            <a:prstDash val="solid"/>
          </a:ln>
        </p:spPr>
      </p:sp>
      <p:sp>
        <p:nvSpPr>
          <p:cNvPr id="10" name="flow-rightArrow">
            <a:extLst>
              <a:ext uri="{FF2B5EF4-FFF2-40B4-BE49-F238E27FC236}">
                <a16:creationId xmlns:a16="http://schemas.microsoft.com/office/drawing/2014/main" id="{ACB865DB-2AF7-4127-B52A-3CECDB23E0F3}"/>
              </a:ext>
            </a:extLst>
          </p:cNvPr>
          <p:cNvSpPr>
            <a:spLocks noGrp="1"/>
          </p:cNvSpPr>
          <p:nvPr/>
        </p:nvSpPr>
        <p:spPr>
          <a:xfrm>
            <a:off x="4619625" y="2324100"/>
            <a:ext cx="323850" cy="247650"/>
          </a:xfrm>
          <a:prstGeom prst="rightArrow">
            <a:avLst/>
          </a:prstGeom>
          <a:solidFill>
            <a:srgbClr val="E85D04"/>
          </a:solidFill>
          <a:ln w="7620">
            <a:solidFill>
              <a:srgbClr val="E85D04"/>
            </a:solidFill>
            <a:prstDash val="solid"/>
          </a:ln>
        </p:spPr>
      </p:sp>
      <p:sp>
        <p:nvSpPr>
          <p:cNvPr id="11" name="flow-rightArrow">
            <a:extLst>
              <a:ext uri="{FF2B5EF4-FFF2-40B4-BE49-F238E27FC236}">
                <a16:creationId xmlns:a16="http://schemas.microsoft.com/office/drawing/2014/main" id="{A9D4C992-D8B0-4ECC-96B0-A4C3F46478D4}"/>
              </a:ext>
            </a:extLst>
          </p:cNvPr>
          <p:cNvSpPr>
            <a:spLocks noGrp="1"/>
          </p:cNvSpPr>
          <p:nvPr/>
        </p:nvSpPr>
        <p:spPr>
          <a:xfrm>
            <a:off x="6810375" y="2324100"/>
            <a:ext cx="323850" cy="247650"/>
          </a:xfrm>
          <a:prstGeom prst="rightArrow">
            <a:avLst/>
          </a:prstGeom>
          <a:solidFill>
            <a:srgbClr val="E85D04"/>
          </a:solidFill>
          <a:ln w="7620">
            <a:solidFill>
              <a:srgbClr val="E85D04"/>
            </a:solidFill>
            <a:prstDash val="solid"/>
          </a:ln>
        </p:spPr>
      </p:sp>
      <p:sp>
        <p:nvSpPr>
          <p:cNvPr id="12" name="flow-rightArrow">
            <a:extLst>
              <a:ext uri="{FF2B5EF4-FFF2-40B4-BE49-F238E27FC236}">
                <a16:creationId xmlns:a16="http://schemas.microsoft.com/office/drawing/2014/main" id="{6F7DE4C0-7721-43CA-9574-9EC0071FF304}"/>
              </a:ext>
            </a:extLst>
          </p:cNvPr>
          <p:cNvSpPr>
            <a:spLocks noGrp="1"/>
          </p:cNvSpPr>
          <p:nvPr/>
        </p:nvSpPr>
        <p:spPr>
          <a:xfrm>
            <a:off x="9001125" y="2324100"/>
            <a:ext cx="323850" cy="247650"/>
          </a:xfrm>
          <a:prstGeom prst="rightArrow">
            <a:avLst/>
          </a:prstGeom>
          <a:solidFill>
            <a:srgbClr val="E85D04"/>
          </a:solidFill>
          <a:ln w="7620">
            <a:solidFill>
              <a:srgbClr val="E85D04"/>
            </a:solidFill>
            <a:prstDash val="solid"/>
          </a:ln>
        </p:spPr>
      </p:sp>
      <p:sp>
        <p:nvSpPr>
          <p:cNvPr id="13" name="flow-downArrow">
            <a:extLst>
              <a:ext uri="{FF2B5EF4-FFF2-40B4-BE49-F238E27FC236}">
                <a16:creationId xmlns:a16="http://schemas.microsoft.com/office/drawing/2014/main" id="{ADB47044-037C-416A-ABC7-17562C71192F}"/>
              </a:ext>
            </a:extLst>
          </p:cNvPr>
          <p:cNvSpPr>
            <a:spLocks noGrp="1"/>
          </p:cNvSpPr>
          <p:nvPr/>
        </p:nvSpPr>
        <p:spPr>
          <a:xfrm>
            <a:off x="10125075" y="3086100"/>
            <a:ext cx="266700" cy="495300"/>
          </a:xfrm>
          <a:prstGeom prst="downArrow">
            <a:avLst/>
          </a:prstGeom>
          <a:solidFill>
            <a:srgbClr val="E85D04"/>
          </a:solidFill>
          <a:ln w="7620">
            <a:solidFill>
              <a:srgbClr val="E85D04"/>
            </a:solidFill>
            <a:prstDash val="solid"/>
          </a:ln>
        </p:spPr>
      </p:sp>
      <p:sp>
        <p:nvSpPr>
          <p:cNvPr id="14" name="flow-leftArrow">
            <a:extLst>
              <a:ext uri="{FF2B5EF4-FFF2-40B4-BE49-F238E27FC236}">
                <a16:creationId xmlns:a16="http://schemas.microsoft.com/office/drawing/2014/main" id="{64E7371B-E4FB-4337-ABDF-5CADC624BA99}"/>
              </a:ext>
            </a:extLst>
          </p:cNvPr>
          <p:cNvSpPr>
            <a:spLocks noGrp="1"/>
          </p:cNvSpPr>
          <p:nvPr/>
        </p:nvSpPr>
        <p:spPr>
          <a:xfrm>
            <a:off x="8524875" y="4276725"/>
            <a:ext cx="323850" cy="247650"/>
          </a:xfrm>
          <a:prstGeom prst="leftArrow">
            <a:avLst/>
          </a:prstGeom>
          <a:solidFill>
            <a:srgbClr val="E85D04"/>
          </a:solidFill>
          <a:ln w="7620">
            <a:solidFill>
              <a:srgbClr val="E85D04"/>
            </a:solidFill>
            <a:prstDash val="solid"/>
          </a:ln>
        </p:spPr>
      </p:sp>
      <p:sp>
        <p:nvSpPr>
          <p:cNvPr id="15" name="flow-leftArrow">
            <a:extLst>
              <a:ext uri="{FF2B5EF4-FFF2-40B4-BE49-F238E27FC236}">
                <a16:creationId xmlns:a16="http://schemas.microsoft.com/office/drawing/2014/main" id="{ABE98FAC-DDE4-4C98-8477-5B31A9A9759C}"/>
              </a:ext>
            </a:extLst>
          </p:cNvPr>
          <p:cNvSpPr>
            <a:spLocks noGrp="1"/>
          </p:cNvSpPr>
          <p:nvPr/>
        </p:nvSpPr>
        <p:spPr>
          <a:xfrm>
            <a:off x="6096000" y="4276725"/>
            <a:ext cx="323850" cy="247650"/>
          </a:xfrm>
          <a:prstGeom prst="leftArrow">
            <a:avLst/>
          </a:prstGeom>
          <a:solidFill>
            <a:srgbClr val="E85D04"/>
          </a:solidFill>
          <a:ln w="7620">
            <a:solidFill>
              <a:srgbClr val="E85D04"/>
            </a:solidFill>
            <a:prstDash val="solid"/>
          </a:ln>
        </p:spPr>
      </p:sp>
      <p:sp>
        <p:nvSpPr>
          <p:cNvPr id="16" name="flow-leftArrow">
            <a:extLst>
              <a:ext uri="{FF2B5EF4-FFF2-40B4-BE49-F238E27FC236}">
                <a16:creationId xmlns:a16="http://schemas.microsoft.com/office/drawing/2014/main" id="{D62A22BB-E2E2-4349-8C03-D24D57B4A963}"/>
              </a:ext>
            </a:extLst>
          </p:cNvPr>
          <p:cNvSpPr>
            <a:spLocks noGrp="1"/>
          </p:cNvSpPr>
          <p:nvPr/>
        </p:nvSpPr>
        <p:spPr>
          <a:xfrm>
            <a:off x="3667125" y="4276725"/>
            <a:ext cx="323850" cy="247650"/>
          </a:xfrm>
          <a:prstGeom prst="leftArrow">
            <a:avLst/>
          </a:prstGeom>
          <a:solidFill>
            <a:srgbClr val="E85D04"/>
          </a:solidFill>
          <a:ln w="7620">
            <a:solidFill>
              <a:srgbClr val="E85D04"/>
            </a:solidFill>
            <a:prstDash val="solid"/>
          </a:ln>
        </p:spPr>
      </p:sp>
      <p:sp>
        <p:nvSpPr>
          <p:cNvPr id="17" name="role-resume">
            <a:extLst>
              <a:ext uri="{FF2B5EF4-FFF2-40B4-BE49-F238E27FC236}">
                <a16:creationId xmlns:a16="http://schemas.microsoft.com/office/drawing/2014/main" id="{BB669650-45FE-4CAB-B201-1E57A25D85AB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1714500" cy="914400"/>
          </a:xfrm>
          <a:prstGeom prst="roundRect">
            <a:avLst>
              <a:gd name="adj" fmla="val 12500"/>
            </a:avLst>
          </a:prstGeom>
          <a:solidFill>
            <a:srgbClr val="E8F4F4"/>
          </a:solidFill>
          <a:ln w="14288">
            <a:solidFill>
              <a:srgbClr val="0B5D5E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1  Approved Role +</a:t>
            </a:r>
          </a:p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Resume Evidence</a:t>
            </a:r>
          </a:p>
        </p:txBody>
      </p:sp>
      <p:sp>
        <p:nvSpPr>
          <p:cNvPr id="18" name="adaptive-interview">
            <a:extLst>
              <a:ext uri="{FF2B5EF4-FFF2-40B4-BE49-F238E27FC236}">
                <a16:creationId xmlns:a16="http://schemas.microsoft.com/office/drawing/2014/main" id="{8E2EBC4E-06F0-4790-87F4-638A80732CE3}"/>
              </a:ext>
            </a:extLst>
          </p:cNvPr>
          <p:cNvSpPr>
            <a:spLocks noGrp="1"/>
          </p:cNvSpPr>
          <p:nvPr/>
        </p:nvSpPr>
        <p:spPr>
          <a:xfrm>
            <a:off x="2857500" y="2000250"/>
            <a:ext cx="1714500" cy="914400"/>
          </a:xfrm>
          <a:prstGeom prst="roundRect">
            <a:avLst>
              <a:gd name="adj" fmla="val 12500"/>
            </a:avLst>
          </a:prstGeom>
          <a:solidFill>
            <a:srgbClr val="FFF1E8"/>
          </a:solidFill>
          <a:ln w="14288">
            <a:solidFill>
              <a:srgbClr val="E85D04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2  Six-Competency</a:t>
            </a:r>
          </a:p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Adaptive Interview</a:t>
            </a:r>
          </a:p>
        </p:txBody>
      </p:sp>
      <p:sp>
        <p:nvSpPr>
          <p:cNvPr id="19" name="multimodal-processing">
            <a:extLst>
              <a:ext uri="{FF2B5EF4-FFF2-40B4-BE49-F238E27FC236}">
                <a16:creationId xmlns:a16="http://schemas.microsoft.com/office/drawing/2014/main" id="{BE32108D-A1F0-4567-9D1D-8A0C118EDD32}"/>
              </a:ext>
            </a:extLst>
          </p:cNvPr>
          <p:cNvSpPr>
            <a:spLocks noGrp="1"/>
          </p:cNvSpPr>
          <p:nvPr/>
        </p:nvSpPr>
        <p:spPr>
          <a:xfrm>
            <a:off x="5048250" y="2000250"/>
            <a:ext cx="1714500" cy="914400"/>
          </a:xfrm>
          <a:prstGeom prst="roundRect">
            <a:avLst>
              <a:gd name="adj" fmla="val 12500"/>
            </a:avLst>
          </a:prstGeom>
          <a:solidFill>
            <a:srgbClr val="E8F4F4"/>
          </a:solidFill>
          <a:ln w="14288">
            <a:solidFill>
              <a:srgbClr val="0B5D5E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3  Whisper + eGeMAPS</a:t>
            </a:r>
          </a:p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+ OpenFace Alignment</a:t>
            </a:r>
          </a:p>
        </p:txBody>
      </p:sp>
      <p:sp>
        <p:nvSpPr>
          <p:cNvPr id="20" name="mag-bert-arl">
            <a:extLst>
              <a:ext uri="{FF2B5EF4-FFF2-40B4-BE49-F238E27FC236}">
                <a16:creationId xmlns:a16="http://schemas.microsoft.com/office/drawing/2014/main" id="{8C7871F7-719F-4A73-B7E3-082B162D3325}"/>
              </a:ext>
            </a:extLst>
          </p:cNvPr>
          <p:cNvSpPr>
            <a:spLocks noGrp="1"/>
          </p:cNvSpPr>
          <p:nvPr/>
        </p:nvSpPr>
        <p:spPr>
          <a:xfrm>
            <a:off x="7239000" y="2000250"/>
            <a:ext cx="1714500" cy="914400"/>
          </a:xfrm>
          <a:prstGeom prst="roundRect">
            <a:avLst>
              <a:gd name="adj" fmla="val 12500"/>
            </a:avLst>
          </a:prstGeom>
          <a:solidFill>
            <a:srgbClr val="FFF1E8"/>
          </a:solidFill>
          <a:ln w="14288">
            <a:solidFill>
              <a:srgbClr val="E85D04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4  MAG-BERT-ARL</a:t>
            </a:r>
          </a:p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Signal + Gradient SHAP</a:t>
            </a:r>
          </a:p>
        </p:txBody>
      </p:sp>
      <p:sp>
        <p:nvSpPr>
          <p:cNvPr id="21" name="evidence-graph">
            <a:extLst>
              <a:ext uri="{FF2B5EF4-FFF2-40B4-BE49-F238E27FC236}">
                <a16:creationId xmlns:a16="http://schemas.microsoft.com/office/drawing/2014/main" id="{8EDDF7C8-193C-4879-81AF-250598FFB544}"/>
              </a:ext>
            </a:extLst>
          </p:cNvPr>
          <p:cNvSpPr>
            <a:spLocks noGrp="1"/>
          </p:cNvSpPr>
          <p:nvPr/>
        </p:nvSpPr>
        <p:spPr>
          <a:xfrm>
            <a:off x="9429750" y="2000250"/>
            <a:ext cx="1714500" cy="914400"/>
          </a:xfrm>
          <a:prstGeom prst="roundRect">
            <a:avLst>
              <a:gd name="adj" fmla="val 12500"/>
            </a:avLst>
          </a:prstGeom>
          <a:solidFill>
            <a:srgbClr val="E8F4F4"/>
          </a:solidFill>
          <a:ln w="14288">
            <a:solidFill>
              <a:srgbClr val="0B5D5E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5  Competency</a:t>
            </a:r>
          </a:p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Evidence Graph</a:t>
            </a:r>
          </a:p>
        </p:txBody>
      </p:sp>
      <p:sp>
        <p:nvSpPr>
          <p:cNvPr id="22" name="scorecards">
            <a:extLst>
              <a:ext uri="{FF2B5EF4-FFF2-40B4-BE49-F238E27FC236}">
                <a16:creationId xmlns:a16="http://schemas.microsoft.com/office/drawing/2014/main" id="{24BF3884-7854-4528-851F-4004D189C069}"/>
              </a:ext>
            </a:extLst>
          </p:cNvPr>
          <p:cNvSpPr>
            <a:spLocks noGrp="1"/>
          </p:cNvSpPr>
          <p:nvPr/>
        </p:nvSpPr>
        <p:spPr>
          <a:xfrm>
            <a:off x="9096375" y="3857625"/>
            <a:ext cx="2047875" cy="1000125"/>
          </a:xfrm>
          <a:prstGeom prst="roundRect">
            <a:avLst>
              <a:gd name="adj" fmla="val 11429"/>
            </a:avLst>
          </a:prstGeom>
          <a:solidFill>
            <a:srgbClr val="FFF1E8"/>
          </a:solidFill>
          <a:ln w="14288">
            <a:solidFill>
              <a:srgbClr val="E85D04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6  Auditable Scorecards</a:t>
            </a:r>
          </a:p>
        </p:txBody>
      </p:sp>
      <p:sp>
        <p:nvSpPr>
          <p:cNvPr id="23" name="skill-gaps">
            <a:extLst>
              <a:ext uri="{FF2B5EF4-FFF2-40B4-BE49-F238E27FC236}">
                <a16:creationId xmlns:a16="http://schemas.microsoft.com/office/drawing/2014/main" id="{E6F07E50-258F-48C4-87F2-DC5A86C7F067}"/>
              </a:ext>
            </a:extLst>
          </p:cNvPr>
          <p:cNvSpPr>
            <a:spLocks noGrp="1"/>
          </p:cNvSpPr>
          <p:nvPr/>
        </p:nvSpPr>
        <p:spPr>
          <a:xfrm>
            <a:off x="6667500" y="3857625"/>
            <a:ext cx="2047875" cy="1000125"/>
          </a:xfrm>
          <a:prstGeom prst="roundRect">
            <a:avLst>
              <a:gd name="adj" fmla="val 11429"/>
            </a:avLst>
          </a:prstGeom>
          <a:solidFill>
            <a:srgbClr val="E8F4F4"/>
          </a:solidFill>
          <a:ln w="14288">
            <a:solidFill>
              <a:srgbClr val="0B5D5E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7  Evidence-Backed</a:t>
            </a:r>
          </a:p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Skill Gaps</a:t>
            </a:r>
          </a:p>
        </p:txBody>
      </p:sp>
      <p:sp>
        <p:nvSpPr>
          <p:cNvPr id="24" name="roadmap">
            <a:extLst>
              <a:ext uri="{FF2B5EF4-FFF2-40B4-BE49-F238E27FC236}">
                <a16:creationId xmlns:a16="http://schemas.microsoft.com/office/drawing/2014/main" id="{F46734F5-B77E-44BC-B845-75A93BAE35F4}"/>
              </a:ext>
            </a:extLst>
          </p:cNvPr>
          <p:cNvSpPr>
            <a:spLocks noGrp="1"/>
          </p:cNvSpPr>
          <p:nvPr/>
        </p:nvSpPr>
        <p:spPr>
          <a:xfrm>
            <a:off x="4238625" y="3857625"/>
            <a:ext cx="2047875" cy="1000125"/>
          </a:xfrm>
          <a:prstGeom prst="roundRect">
            <a:avLst>
              <a:gd name="adj" fmla="val 11429"/>
            </a:avLst>
          </a:prstGeom>
          <a:solidFill>
            <a:srgbClr val="FFF1E8"/>
          </a:solidFill>
          <a:ln w="14288">
            <a:solidFill>
              <a:srgbClr val="E85D04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8  Reviewer-Approved</a:t>
            </a:r>
          </a:p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Learning Roadmap</a:t>
            </a:r>
          </a:p>
        </p:txBody>
      </p:sp>
      <p:sp>
        <p:nvSpPr>
          <p:cNvPr id="25" name="reattempt">
            <a:extLst>
              <a:ext uri="{FF2B5EF4-FFF2-40B4-BE49-F238E27FC236}">
                <a16:creationId xmlns:a16="http://schemas.microsoft.com/office/drawing/2014/main" id="{B9878FDA-1870-47EE-8B3F-EDF036795E0D}"/>
              </a:ext>
            </a:extLst>
          </p:cNvPr>
          <p:cNvSpPr>
            <a:spLocks noGrp="1"/>
          </p:cNvSpPr>
          <p:nvPr/>
        </p:nvSpPr>
        <p:spPr>
          <a:xfrm>
            <a:off x="1809750" y="3857625"/>
            <a:ext cx="2047875" cy="1000125"/>
          </a:xfrm>
          <a:prstGeom prst="roundRect">
            <a:avLst>
              <a:gd name="adj" fmla="val 11429"/>
            </a:avLst>
          </a:prstGeom>
          <a:solidFill>
            <a:srgbClr val="E8F4F4"/>
          </a:solidFill>
          <a:ln w="14288">
            <a:solidFill>
              <a:srgbClr val="0B5D5E"/>
            </a:solidFill>
            <a:prstDash val="solid"/>
          </a:ln>
        </p:spPr>
        <p:txBody>
          <a:bodyPr lIns="76200" tIns="76200" rIns="76200" bIns="76200" anchor="ctr"/>
          <a:lstStyle/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9  Reattempt +</a:t>
            </a:r>
          </a:p>
          <a:p>
            <a:pPr algn="ctr">
              <a:defRPr sz="1200" b="1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Progress Comparison</a:t>
            </a:r>
          </a:p>
        </p:txBody>
      </p:sp>
      <p:sp>
        <p:nvSpPr>
          <p:cNvPr id="26" name="safety-rail">
            <a:extLst>
              <a:ext uri="{FF2B5EF4-FFF2-40B4-BE49-F238E27FC236}">
                <a16:creationId xmlns:a16="http://schemas.microsoft.com/office/drawing/2014/main" id="{D9F41429-1AA5-4A60-B545-3EFBF5CBCBF8}"/>
              </a:ext>
            </a:extLst>
          </p:cNvPr>
          <p:cNvSpPr>
            <a:spLocks noGrp="1"/>
          </p:cNvSpPr>
          <p:nvPr/>
        </p:nvSpPr>
        <p:spPr>
          <a:xfrm>
            <a:off x="1809750" y="5314950"/>
            <a:ext cx="9334500" cy="514350"/>
          </a:xfrm>
          <a:prstGeom prst="roundRect">
            <a:avLst>
              <a:gd name="adj" fmla="val 18519"/>
            </a:avLst>
          </a:prstGeom>
          <a:solidFill>
            <a:srgbClr val="0B5D5E"/>
          </a:solidFill>
          <a:ln w="9525">
            <a:solidFill>
              <a:srgbClr val="0B5D5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+ private storage + source provenance + confidence gating across every stage</a:t>
            </a:r>
          </a:p>
        </p:txBody>
      </p:sp>
    </p:spTree>
    <p:extLst>
      <p:ext uri="{BB962C8B-B14F-4D97-AF65-F5344CB8AC3E}">
        <p14:creationId xmlns:p14="http://schemas.microsoft.com/office/powerpoint/2010/main" val="253791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BAD897C-5ACC-7AD0-4210-B2C9844E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>
            <a:normAutofit/>
          </a:bodyPr>
          <a:lstStyle/>
          <a:p>
            <a:r>
              <a:t>Architecture Explanation and Review Status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D3EFC62-4E4D-300E-A1A1-97EF5CA94F6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pPr marL="28" indent="-14">
              <a:spcAft>
                <a:spcPts val="8"/>
              </a:spcAft>
              <a:buChar char="•"/>
            </a:pPr>
            <a:r>
              <a:rPr b="1"/>
              <a:t>1 - Constrain: </a:t>
            </a:r>
            <a:r>
              <a:t>the approved role template and traceable resume evidence define what the interview may assess.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2 - Observe: </a:t>
            </a:r>
            <a:r>
              <a:t>aligned text, audio, and visual inputs produce a research-only base signal and feature attributions.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3 - Reason: </a:t>
            </a:r>
            <a:r>
              <a:t>the Evidence Graph connects each score and explanation to source evidence and suppresses uncertain conclusions.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4 - Act: </a:t>
            </a:r>
            <a:r>
              <a:t>verified gaps select reviewer-approved learning tasks; a later attempt measures evidence-backed progress.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Verified now: </a:t>
            </a:r>
            <a:r>
              <a:t>52 tests pass; the 8,000-record manifest, full-toolchain preflight, and 10-sample multimodal pilot are complete.</a:t>
            </a:r>
          </a:p>
          <a:p>
            <a:pPr marL="28" indent="-14">
              <a:spcAft>
                <a:spcPts val="8"/>
              </a:spcAft>
              <a:buChar char="•"/>
            </a:pPr>
            <a:r>
              <a:rPr b="1"/>
              <a:t>Next milestone: </a:t>
            </a:r>
            <a:r>
              <a:t>complete FI preprocessing and model experiments, validate the rubric with faculty, and connect one end-to-end student demo.</a:t>
            </a:r>
          </a:p>
        </p:txBody>
      </p:sp>
    </p:spTree>
    <p:extLst>
      <p:ext uri="{BB962C8B-B14F-4D97-AF65-F5344CB8AC3E}">
        <p14:creationId xmlns:p14="http://schemas.microsoft.com/office/powerpoint/2010/main" val="2298409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1528</Words>
  <Application>Microsoft Office PowerPoint</Application>
  <DocSecurity>0</DocSecurity>
  <PresentationFormat>Widescreen</PresentationFormat>
  <Paragraphs>109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1_Office Theme</vt:lpstr>
      <vt:lpstr>FairHireAI: Evidence-Backed Placement Readiness Project Review | Student Self-Improvement System MAG-BERT-ARL + Competency Evidence Graph</vt:lpstr>
      <vt:lpstr>Abstract</vt:lpstr>
      <vt:lpstr>Base Paper: MAG-BERT-ARL</vt:lpstr>
      <vt:lpstr>Literature Survey</vt:lpstr>
      <vt:lpstr>Existing System</vt:lpstr>
      <vt:lpstr>Advantages of Existing System</vt:lpstr>
      <vt:lpstr>Limitations of Existing System</vt:lpstr>
      <vt:lpstr>Proposed System: FairHireAI</vt:lpstr>
      <vt:lpstr>Advantages of Proposed System</vt:lpstr>
      <vt:lpstr>Current Limitations and Next Steps</vt:lpstr>
      <vt:lpstr>FairHireAI Architecture and Flow</vt:lpstr>
      <vt:lpstr>Architecture Explanation and Review Status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Roopika Juluru</cp:lastModifiedBy>
  <cp:revision>1</cp:revision>
  <dcterms:created xsi:type="dcterms:W3CDTF">2026-07-23T14:08:44Z</dcterms:created>
  <dcterms:modified xsi:type="dcterms:W3CDTF">2026-07-23T14:17:55Z</dcterms:modified>
</cp:coreProperties>
</file>